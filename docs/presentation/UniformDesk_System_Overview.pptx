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E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F4EF"/>
                </a:solidFill>
                <a:latin typeface="Calibri"/>
              </a:rPr>
              <a:t>SYSTEM ANALYSIS  ·  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UniformDesk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6F4EF"/>
                </a:solidFill>
                <a:latin typeface="Calibri"/>
              </a:rPr>
              <a:t>Supplier supply · School issue · Proof for every student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Comprehensive system presentation with live application screenshots
and end-to-end operational 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F4EF"/>
                </a:solidFill>
                <a:latin typeface="Calibri"/>
              </a:rPr>
              <a:t>Prepared as a System Analyst briefing  |  Local demo environment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01 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this briefing covers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Calibri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Business problem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Stakeholders &amp; roles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Solution positioning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73736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Calibri"/>
              </a:rPr>
              <a:t>System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Architecture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Tenancy &amp; RBAC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End-to-end spine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Calibri"/>
              </a:rPr>
              <a:t>Live product tour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School desk screens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Supplier portal screens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Trust &amp; offline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73736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59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Calibri"/>
              </a:rPr>
              <a:t>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What is solid today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Pre-production gaps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Recommended 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2 / 46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02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schools and suppliers need UniformDesk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019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Calibri"/>
              </a:rPr>
              <a:t>No proof of 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F1C"/>
                </a:solidFill>
                <a:latin typeface="Calibri"/>
              </a:rPr>
              <a:t>Uniforms leave the store without a signed, shareable record.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8036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449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Calibri"/>
              </a:rPr>
              <a:t>Stock without a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F1C"/>
                </a:solidFill>
                <a:latin typeface="Calibri"/>
              </a:rPr>
              <a:t>Counts drift; shortages are informal or hidden.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1879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Calibri"/>
              </a:rPr>
              <a:t>Broken supply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26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F1C"/>
                </a:solidFill>
                <a:latin typeface="Calibri"/>
              </a:rPr>
              <a:t>Orders, deliveries, and invoices live in chat/spreadsheets.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6636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3309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Calibri"/>
              </a:rPr>
              <a:t>Weak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69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F1C"/>
                </a:solidFill>
                <a:latin typeface="Calibri"/>
              </a:rPr>
              <a:t>Auditors cannot correlate student, slip, DN, and payment.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3 / 46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03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One modular monolith, two portals, one truth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School 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Issue with mandatory signature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Stock balances + ledger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Receive against supplier DN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Student history &amp; reports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Public proof link for guardians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12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Supplier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Multi-school portfolio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Orders → pack → dispatch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Invoices + payment confirmation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White-label branding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Activity &amp; notifications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4 / 46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04 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Roles and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Calibri"/>
              </a:rPr>
              <a:t>Storekeeper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F1C"/>
                </a:solidFill>
                <a:latin typeface="Calibri"/>
              </a:rPr>
              <a:t>Issue, receive, stock 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73736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Calibri"/>
              </a:rPr>
              <a:t>School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6060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F1C"/>
                </a:solidFill>
                <a:latin typeface="Calibri"/>
              </a:rPr>
              <a:t>Catalog, kits, users, integrations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73736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Calibri"/>
              </a:rPr>
              <a:t>Auditor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6060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F1C"/>
                </a:solidFill>
                <a:latin typeface="Calibri"/>
              </a:rPr>
              <a:t>Reports &amp; audit export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Calibri"/>
              </a:rPr>
              <a:t>Supplier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00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F1C"/>
                </a:solidFill>
                <a:latin typeface="Calibri"/>
              </a:rPr>
              <a:t>Catalog, branding, portfolio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93192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Calibri"/>
              </a:rPr>
              <a:t>Supplier 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800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F1C"/>
                </a:solidFill>
                <a:latin typeface="Calibri"/>
              </a:rPr>
              <a:t>Pack, dispatch, collect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393192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Calibri"/>
              </a:rPr>
              <a:t>Guardian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800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F1C"/>
                </a:solidFill>
                <a:latin typeface="Calibri"/>
              </a:rPr>
              <a:t>View public proof (no login)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5 / 46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05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Modular monolith — Next.js + Prisma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6E56"/>
                </a:solidFill>
                <a:latin typeface="Calibri"/>
              </a:rP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1167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F1C"/>
                </a:solidFill>
                <a:latin typeface="Calibri"/>
              </a:rPr>
              <a:t>School desk UI  ·  Supplier portal  ·  Public proof  ·  PWA shell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39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7179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6E56"/>
                </a:solidFill>
                <a:latin typeface="Calibri"/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10895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F1C"/>
                </a:solidFill>
                <a:latin typeface="Calibri"/>
              </a:rPr>
              <a:t>Server Actions  ·  REST (/api/v1)  ·  Edge middleware (JWT)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69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6E56"/>
                </a:solidFill>
                <a:latin typeface="Calibri"/>
              </a:rPr>
              <a:t>Domain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2062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F1C"/>
                </a:solidFill>
                <a:latin typeface="Calibri"/>
              </a:rPr>
              <a:t>issue · inventory · supply · payments · reports · integrations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2920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166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6E56"/>
                </a:solidFill>
                <a:latin typeface="Calibri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3035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F1C"/>
                </a:solidFill>
                <a:latin typeface="Calibri"/>
              </a:rPr>
              <a:t>Prisma ORM  ·  SQLite (local/CI)  ·  Postgres path for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6 / 46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06 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End-to-end operational spine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011680"/>
            <a:ext cx="502920" cy="50292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743200"/>
            <a:ext cx="1737360" cy="14630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0175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1C"/>
                </a:solidFill>
                <a:latin typeface="Calibri"/>
              </a:rPr>
              <a:t>Catalog
align SKUs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210312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E56"/>
                </a:solidFill>
                <a:latin typeface="Calibri"/>
              </a:rPr>
              <a:t>→</a:t>
            </a:r>
          </a:p>
        </p:txBody>
      </p:sp>
      <p:sp>
        <p:nvSpPr>
          <p:cNvPr id="304" name="Oval 303"/>
          <p:cNvSpPr/>
          <p:nvPr/>
        </p:nvSpPr>
        <p:spPr>
          <a:xfrm>
            <a:off x="2926080" y="2011680"/>
            <a:ext cx="502920" cy="50292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2331720" y="2743200"/>
            <a:ext cx="1737360" cy="14630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2423160" y="30175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1C"/>
                </a:solidFill>
                <a:latin typeface="Calibri"/>
              </a:rPr>
              <a:t>Order
(PO)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402336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E56"/>
                </a:solidFill>
                <a:latin typeface="Calibri"/>
              </a:rPr>
              <a:t>→</a:t>
            </a:r>
          </a:p>
        </p:txBody>
      </p:sp>
      <p:sp>
        <p:nvSpPr>
          <p:cNvPr id="308" name="Oval 307"/>
          <p:cNvSpPr/>
          <p:nvPr/>
        </p:nvSpPr>
        <p:spPr>
          <a:xfrm>
            <a:off x="4846320" y="2011680"/>
            <a:ext cx="502920" cy="50292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4251960" y="2743200"/>
            <a:ext cx="1737360" cy="14630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4343400" y="30175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1C"/>
                </a:solidFill>
                <a:latin typeface="Calibri"/>
              </a:rPr>
              <a:t>Pack &amp;
Dispatch DN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594360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E56"/>
                </a:solidFill>
                <a:latin typeface="Calibri"/>
              </a:rPr>
              <a:t>→</a:t>
            </a:r>
          </a:p>
        </p:txBody>
      </p:sp>
      <p:sp>
        <p:nvSpPr>
          <p:cNvPr id="312" name="Oval 311"/>
          <p:cNvSpPr/>
          <p:nvPr/>
        </p:nvSpPr>
        <p:spPr>
          <a:xfrm>
            <a:off x="6766560" y="2011680"/>
            <a:ext cx="502920" cy="50292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6172200" y="2743200"/>
            <a:ext cx="1737360" cy="14630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6263640" y="30175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1C"/>
                </a:solidFill>
                <a:latin typeface="Calibri"/>
              </a:rPr>
              <a:t>School
Receive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86384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E56"/>
                </a:solidFill>
                <a:latin typeface="Calibri"/>
              </a:rPr>
              <a:t>→</a:t>
            </a:r>
          </a:p>
        </p:txBody>
      </p:sp>
      <p:sp>
        <p:nvSpPr>
          <p:cNvPr id="316" name="Oval 315"/>
          <p:cNvSpPr/>
          <p:nvPr/>
        </p:nvSpPr>
        <p:spPr>
          <a:xfrm>
            <a:off x="8686800" y="2011680"/>
            <a:ext cx="502920" cy="50292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7" name="Rounded Rectangle 316"/>
          <p:cNvSpPr/>
          <p:nvPr/>
        </p:nvSpPr>
        <p:spPr>
          <a:xfrm>
            <a:off x="8092440" y="2743200"/>
            <a:ext cx="1737360" cy="14630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8183879" y="30175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1C"/>
                </a:solidFill>
                <a:latin typeface="Calibri"/>
              </a:rPr>
              <a:t>Issue +
Signature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78408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E56"/>
                </a:solidFill>
                <a:latin typeface="Calibri"/>
              </a:rPr>
              <a:t>→</a:t>
            </a:r>
          </a:p>
        </p:txBody>
      </p:sp>
      <p:sp>
        <p:nvSpPr>
          <p:cNvPr id="320" name="Oval 319"/>
          <p:cNvSpPr/>
          <p:nvPr/>
        </p:nvSpPr>
        <p:spPr>
          <a:xfrm>
            <a:off x="10607040" y="2011680"/>
            <a:ext cx="502920" cy="50292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1" name="Rounded Rectangle 320"/>
          <p:cNvSpPr/>
          <p:nvPr/>
        </p:nvSpPr>
        <p:spPr>
          <a:xfrm>
            <a:off x="10012680" y="2743200"/>
            <a:ext cx="1737360" cy="14630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10104119" y="30175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1C"/>
                </a:solidFill>
                <a:latin typeface="Calibri"/>
              </a:rPr>
              <a:t>Proof +
Invoice/Pay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B1F1C"/>
                </a:solidFill>
                <a:latin typeface="Calibri"/>
              </a:rPr>
              <a:t>•  SKU matching is mandatory: supplier product SKU → school catalog SKU.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F1C"/>
                </a:solidFill>
                <a:latin typeface="Calibri"/>
              </a:rPr>
              <a:t>•  Stock only moves with ledger entries (receive / issue / void / adjust).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F1C"/>
                </a:solidFill>
                <a:latin typeface="Calibri"/>
              </a:rPr>
              <a:t>•  No issue without signature; guardians verify via public /v/[token].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F1C"/>
                </a:solidFill>
                <a:latin typeface="Calibri"/>
              </a:rPr>
              <a:t>•  Payments are settlement confirmation (cash/bank/sandbox), not a PSP product.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7 / 46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20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01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250"/>
                      </p:stCondLst>
                      <p:childTnLst>
                        <p:par>
                          <p:cTn id="202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0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250"/>
                      </p:stCondLst>
                      <p:childTnLst>
                        <p:par>
                          <p:cTn id="20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03" dur="500"/>
                                  <p:tgtEl>
                                    <p:spTgt spid="30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250"/>
                      </p:stCondLst>
                      <p:childTnLst>
                        <p:par>
                          <p:cTn id="20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04" dur="500"/>
                                  <p:tgtEl>
                                    <p:spTgt spid="30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250"/>
                      </p:stCondLst>
                      <p:childTnLst>
                        <p:par>
                          <p:cTn id="20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05" dur="500"/>
                                  <p:tgtEl>
                                    <p:spTgt spid="30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250"/>
                      </p:stCondLst>
                      <p:childTnLst>
                        <p:par>
                          <p:cTn id="20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06" dur="500"/>
                                  <p:tgtEl>
                                    <p:spTgt spid="30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250"/>
                      </p:stCondLst>
                      <p:childTnLst>
                        <p:par>
                          <p:cTn id="20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07" dur="500"/>
                                  <p:tgtEl>
                                    <p:spTgt spid="3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250"/>
                      </p:stCondLst>
                      <p:childTnLst>
                        <p:par>
                          <p:cTn id="20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08" dur="500"/>
                                  <p:tgtEl>
                                    <p:spTgt spid="3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250"/>
                      </p:stCondLst>
                      <p:childTnLst>
                        <p:par>
                          <p:cTn id="20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09" dur="500"/>
                                  <p:tgtEl>
                                    <p:spTgt spid="3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250"/>
                      </p:stCondLst>
                      <p:childTnLst>
                        <p:par>
                          <p:cTn id="210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10" dur="500"/>
                                  <p:tgtEl>
                                    <p:spTgt spid="3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50"/>
                      </p:stCondLst>
                      <p:childTnLst>
                        <p:par>
                          <p:cTn id="2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11" dur="500"/>
                                  <p:tgtEl>
                                    <p:spTgt spid="3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250"/>
                      </p:stCondLst>
                      <p:childTnLst>
                        <p:par>
                          <p:cTn id="212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12" dur="500"/>
                                  <p:tgtEl>
                                    <p:spTgt spid="3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07  FLOW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Who does what across the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SUPPLIER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74519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1F1C"/>
                </a:solidFill>
                <a:latin typeface="Calibri"/>
              </a:rPr>
              <a:t>Create/fulfill order → Pack DN → Dispatch → Invoice → Confirm payment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89"/>
                </a:solidFill>
                <a:latin typeface="Calibri"/>
              </a:rPr>
              <a:t>SCHOOL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4290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1F1C"/>
                </a:solidFill>
                <a:latin typeface="Calibri"/>
              </a:rPr>
              <a:t>Receive DN into stock → Issue kit with signature → Share proof → Review invoices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46320"/>
            <a:ext cx="11247120" cy="118872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6A00"/>
                </a:solidFill>
                <a:latin typeface="Calibri"/>
              </a:rPr>
              <a:t>GUARDIAN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9834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1F1C"/>
                </a:solidFill>
                <a:latin typeface="Calibri"/>
              </a:rPr>
              <a:t>Open /v/[token] — verify student, items, date — no UniformDesk account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8 / 46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08  LIVE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Entry point for school and supplier tenants.</a:t>
            </a:r>
          </a:p>
        </p:txBody>
      </p:sp>
      <p:pic>
        <p:nvPicPr>
          <p:cNvPr id="6" name="Picture 5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JWT session cookie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Demo seed accounts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Edge middleware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9 / 46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09  SCHOOL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Home / Desk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Daily operational command center.</a:t>
            </a:r>
          </a:p>
        </p:txBody>
      </p:sp>
      <p:pic>
        <p:nvPicPr>
          <p:cNvPr id="6" name="Picture 5" descr="02-school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Today stats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Needs attention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Issue CTA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10 / 46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10  SCHOOL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Issue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Signature-gated kit issue workflow.</a:t>
            </a:r>
          </a:p>
        </p:txBody>
      </p:sp>
      <p:pic>
        <p:nvPicPr>
          <p:cNvPr id="6" name="Picture 5" descr="03-school-iss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Student search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Kit / lines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Offline queue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11 / 46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11  SCHOOL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Stock balances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On-hand by item and size.</a:t>
            </a:r>
          </a:p>
        </p:txBody>
      </p:sp>
      <p:pic>
        <p:nvPicPr>
          <p:cNvPr id="6" name="Picture 5" descr="04-school-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Ledger-backed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Adjust with reason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Reorder CTA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12 / 46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12  SCHOOL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Activity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Audit trail with correlation IDs.</a:t>
            </a:r>
          </a:p>
        </p:txBody>
      </p:sp>
      <p:pic>
        <p:nvPicPr>
          <p:cNvPr id="6" name="Picture 5" descr="05-school-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Issue / void / receive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Support-friendly refs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13 / 46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13  SCHOOL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Actionable attention feed.</a:t>
            </a:r>
          </a:p>
        </p:txBody>
      </p:sp>
      <p:pic>
        <p:nvPicPr>
          <p:cNvPr id="6" name="Picture 5" descr="06-school-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Low stock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Unpaid invoices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Inbound DNs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14 / 46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14  SCHOOL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Deliveries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Receive against supplier DN.</a:t>
            </a:r>
          </a:p>
        </p:txBody>
      </p:sp>
      <p:pic>
        <p:nvPicPr>
          <p:cNvPr id="6" name="Picture 5" descr="07-school-deliv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SKU match check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Posts stock +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15 / 46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15  SCHOOL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School purchase orders to supplier.</a:t>
            </a:r>
          </a:p>
        </p:txBody>
      </p:sp>
      <p:pic>
        <p:nvPicPr>
          <p:cNvPr id="6" name="Picture 5" descr="08-school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Status tracking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Links to DNs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16 / 46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16  SCHOOL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Invoices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Supplier bills visible to school.</a:t>
            </a:r>
          </a:p>
        </p:txBody>
      </p:sp>
      <p:pic>
        <p:nvPicPr>
          <p:cNvPr id="6" name="Picture 5" descr="09-school-inv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Settlement status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Printable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17 / 46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17  SCHOOL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Low-stock reorder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Suggest PO lines from thresholds.</a:t>
            </a:r>
          </a:p>
        </p:txBody>
      </p:sp>
      <p:pic>
        <p:nvPicPr>
          <p:cNvPr id="6" name="Picture 5" descr="10-school-re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SKU → supplier product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Unmatched listed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18 / 46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18  SCHOOL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Students roster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Admission-based student master.</a:t>
            </a:r>
          </a:p>
        </p:txBody>
      </p:sp>
      <p:pic>
        <p:nvPicPr>
          <p:cNvPr id="6" name="Picture 5" descr="11-school-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CSV import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History per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19 / 46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19  SCHOOL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Desk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Cross-entity findability.</a:t>
            </a:r>
          </a:p>
        </p:txBody>
      </p:sp>
      <p:pic>
        <p:nvPicPr>
          <p:cNvPr id="6" name="Picture 5" descr="12-school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Students, slips, supply 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20 / 46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20  SCHOOL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Issued today &amp; shortages.</a:t>
            </a:r>
          </a:p>
        </p:txBody>
      </p:sp>
      <p:pic>
        <p:nvPicPr>
          <p:cNvPr id="6" name="Picture 5" descr="13-school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Audit CSV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21 / 46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21  SCHOOL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Items and sizes (admin).</a:t>
            </a:r>
          </a:p>
        </p:txBody>
      </p:sp>
      <p:pic>
        <p:nvPicPr>
          <p:cNvPr id="6" name="Picture 5" descr="14-school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SKU is receive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22 / 46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22  SCHOOL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Issue bundles for speed.</a:t>
            </a:r>
          </a:p>
        </p:txBody>
      </p:sp>
      <p:pic>
        <p:nvPicPr>
          <p:cNvPr id="6" name="Picture 5" descr="15-school-k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Default qtys per 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23 / 46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23  SCHOOL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Users &amp;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Desk accounts and RBAC.</a:t>
            </a:r>
          </a:p>
        </p:txBody>
      </p:sp>
      <p:pic>
        <p:nvPicPr>
          <p:cNvPr id="6" name="Picture 5" descr="16-school-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Admin / storekeeper / auditor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24 / 46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24  SCHOOL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School Master API + SSO.</a:t>
            </a:r>
          </a:p>
        </p:txBody>
      </p:sp>
      <p:pic>
        <p:nvPicPr>
          <p:cNvPr id="6" name="Picture 5" descr="17-school-integ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Roster sync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API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25 / 46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25  SCHOOL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Student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Per-student issue trail.</a:t>
            </a:r>
          </a:p>
        </p:txBody>
      </p:sp>
      <p:pic>
        <p:nvPicPr>
          <p:cNvPr id="6" name="Picture 5" descr="18-school-student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Slips, shortages, voids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26 / 46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26 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Issue slip (printable proof)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Signed record with QR and share actions.</a:t>
            </a:r>
          </a:p>
        </p:txBody>
      </p:sp>
      <p:pic>
        <p:nvPicPr>
          <p:cNvPr id="6" name="Picture 5" descr="19-school-s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Slip number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Signature captured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Share / 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27 / 46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27 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Public guardian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No login — tokenized verification page.</a:t>
            </a:r>
          </a:p>
        </p:txBody>
      </p:sp>
      <p:pic>
        <p:nvPicPr>
          <p:cNvPr id="6" name="Picture 5" descr="20-public-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/v/[token]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QR from slip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Parent-friendly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28 / 46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28 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Supply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Multi-school portfolio overview.</a:t>
            </a:r>
          </a:p>
        </p:txBody>
      </p:sp>
      <p:pic>
        <p:nvPicPr>
          <p:cNvPr id="6" name="Picture 5" descr="21-supplier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Open deliveries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Unpaid invoices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Attention strip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29 / 46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29 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Inbound school POs.</a:t>
            </a:r>
          </a:p>
        </p:txBody>
      </p:sp>
      <p:pic>
        <p:nvPicPr>
          <p:cNvPr id="6" name="Picture 5" descr="22-supplier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Confirm / fulfill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30 / 46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30 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Deliveries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Pack and dispatch queue.</a:t>
            </a:r>
          </a:p>
        </p:txBody>
      </p:sp>
      <p:pic>
        <p:nvPicPr>
          <p:cNvPr id="6" name="Picture 5" descr="23-supplier-deliv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DN numbers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Status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31 / 46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31 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Invoices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Billing and collection.</a:t>
            </a:r>
          </a:p>
        </p:txBody>
      </p:sp>
      <p:pic>
        <p:nvPicPr>
          <p:cNvPr id="6" name="Picture 5" descr="24-supplier-inv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Payment confirmation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32 / 46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32 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Products &amp; SKUs.</a:t>
            </a:r>
          </a:p>
        </p:txBody>
      </p:sp>
      <p:pic>
        <p:nvPicPr>
          <p:cNvPr id="6" name="Picture 5" descr="25-supplier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Must match school SKUs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33 / 46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33 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Schools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Linked campuses.</a:t>
            </a:r>
          </a:p>
        </p:txBody>
      </p:sp>
      <p:pic>
        <p:nvPicPr>
          <p:cNvPr id="6" name="Picture 5" descr="26-supplier-sch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Filter by school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34 / 46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34 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Supply timeline.</a:t>
            </a:r>
          </a:p>
        </p:txBody>
      </p:sp>
      <p:pic>
        <p:nvPicPr>
          <p:cNvPr id="6" name="Picture 5" descr="27-supplier-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DN / INV / PAY corr 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35 / 46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35 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Dispatch &amp; collect prompts.</a:t>
            </a:r>
          </a:p>
        </p:txBody>
      </p:sp>
      <p:pic>
        <p:nvPicPr>
          <p:cNvPr id="6" name="Picture 5" descr="28-supplier-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Packed DNs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Open invoices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36 / 46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36 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Find schools, SKUs, docs.</a:t>
            </a:r>
          </a:p>
        </p:txBody>
      </p:sp>
      <p:pic>
        <p:nvPicPr>
          <p:cNvPr id="6" name="Picture 5" descr="29-supplier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Top-bar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37 / 46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37 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Branding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White-label portal look.</a:t>
            </a:r>
          </a:p>
        </p:txBody>
      </p:sp>
      <p:pic>
        <p:nvPicPr>
          <p:cNvPr id="6" name="Picture 5" descr="30-supplier-br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Mark, color, contacts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38 / 46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38 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Delivery note detail (printable)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Operational DN with print pack.</a:t>
            </a:r>
          </a:p>
        </p:txBody>
      </p:sp>
      <p:pic>
        <p:nvPicPr>
          <p:cNvPr id="6" name="Picture 5" descr="31-supplier-delivery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Lines + sign-off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Dispatch / invoice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39 / 46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39 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Invoice detail + payment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Record cash/bank or sandbox STK.</a:t>
            </a:r>
          </a:p>
        </p:txBody>
      </p:sp>
      <p:pic>
        <p:nvPicPr>
          <p:cNvPr id="6" name="Picture 5" descr="32-supplier-invoi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Not a payment rails product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Marks paid when covered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40 / 46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39b 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Order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Confirmed school PO with line items.</a:t>
            </a:r>
          </a:p>
        </p:txBody>
      </p:sp>
      <p:pic>
        <p:nvPicPr>
          <p:cNvPr id="6" name="Picture 5" descr="33-supplier-orde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874519"/>
            <a:ext cx="3383280" cy="44348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Analyst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Create DN from order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Cancel when needed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F1C"/>
                </a:solidFill>
                <a:latin typeface="Calibri"/>
              </a:rPr>
              <a:t>•  School linkage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41 / 46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40  DATA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makes UniformDesk auditable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StockBalance + StockLedgerEntry — every movement is explainable.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IssueSlip requires signature image; void requires reason and restores stock.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publicToken enables guardian verification without exposing the desk.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Correlation IDs (slip / DN / INV / PAY) appear in activity feeds for support.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Tenant isolation: schoolId / supplierId enforced in session and queries.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RBAC separates storekeeper write paths from auditor read 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42 / 46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41  OFFLINE / PWA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Issue continuity on flaky school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Service worker caches app shell (production).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Desk home / issue page warm an IndexedDB roster snapshot.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/issue-offline runs from cache when the server is unreachable.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Queued issues sync via POST /api/v1/issue when back online.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Local on-hand adjusts while offline so successive issues stay realistic.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Scope is intentional: issue-only offline — receive/admin still need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43 / 46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42 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Analyst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6E56"/>
                </a:solidFill>
                <a:latin typeface="Calibri"/>
              </a:rPr>
              <a:t>Strong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B1F1C"/>
                </a:solidFill>
                <a:latin typeface="Calibri"/>
              </a:rPr>
              <a:t>•  Clear domain model &amp; dual portals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F1C"/>
                </a:solidFill>
                <a:latin typeface="Calibri"/>
              </a:rPr>
              <a:t>•  Ledger + signature invariants (tested)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F1C"/>
                </a:solidFill>
                <a:latin typeface="Calibri"/>
              </a:rPr>
              <a:t>•  Supply loop to payment confirmation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F1C"/>
                </a:solidFill>
                <a:latin typeface="Calibri"/>
              </a:rPr>
              <a:t>•  CI on GitHub + middleware gate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F1C"/>
                </a:solidFill>
                <a:latin typeface="Calibri"/>
              </a:rPr>
              <a:t>•  Pilot-ready UX (search, notices, print)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56A00"/>
                </a:solidFill>
                <a:latin typeface="Calibri"/>
              </a:rPr>
              <a:t>Before live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B1F1C"/>
                </a:solidFill>
                <a:latin typeface="Calibri"/>
              </a:rPr>
              <a:t>•  Postgres (leave SQLite)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F1C"/>
                </a:solidFill>
                <a:latin typeface="Calibri"/>
              </a:rPr>
              <a:t>•  Staging + backup/restore drill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F1C"/>
                </a:solidFill>
                <a:latin typeface="Calibri"/>
              </a:rPr>
              <a:t>•  Secrets rotation / no demo passwords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F1C"/>
                </a:solidFill>
                <a:latin typeface="Calibri"/>
              </a:rPr>
              <a:t>•  Observability (logs / uptime)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F1C"/>
                </a:solidFill>
                <a:latin typeface="Calibri"/>
              </a:rPr>
              <a:t>•  Limited pilot: 1 school + 1 supplier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44 / 46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F4EF"/>
                </a:solidFill>
                <a:latin typeface="Calibri"/>
              </a:rPr>
              <a:t>43  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10-minute live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1) Login as store@greenfield.school / desk1234 — show desk home.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2) Issue a kit with signature — open slip, show QR/share.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3) Open public proof in a private window.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4) Login as supply@uniformdesk.co — show deliveries &amp; dispatch.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5) School receive DN — stock rises; show activity correlation.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6) Supplier invoice + mark paid (confirmation).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1C"/>
                </a:solidFill>
                <a:latin typeface="Calibri"/>
              </a:rPr>
              <a:t>•  7) Close with notifications / reorder / print packs if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UniformDesk System Overview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45 / 46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E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UniformDesk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F4EF"/>
                </a:solidFill>
                <a:latin typeface="Calibri"/>
              </a:rPr>
              <a:t>One spine: supply → stock → signed issue → proof → settlement confirmation.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